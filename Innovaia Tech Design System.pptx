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Playfair Display"/>
      <ns0:italic ns1:id="rIdFont16"/>
      <ns0:boldItalic ns1:id="rIdFont17"/>
      <ns0:regular ns1:id="rIdFont18"/>
    </ns0:embeddedFont>
    <ns0:embeddedFont>
      <ns0:font typeface="Inter"/>
      <ns0:bold ns1:id="rIdFont19"/>
      <ns0:regular ns1:id="rIdFont20"/>
    </ns0:embeddedFont>
    <ns0:embeddedFont>
      <ns0:font typeface="Space Grotesk"/>
      <ns0:bold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fe5e8b60-4ad7-4665-af9e-032fac4835c9.fntdata" /><ns0:Relationship Id="rIdFont17" Type="http://schemas.openxmlformats.org/officeDocument/2006/relationships/font" Target="fonts/8cebd3ae-7aa5-47b9-9eb7-df367ecdefce.fntdata" /><ns0:Relationship Id="rIdFont18" Type="http://schemas.openxmlformats.org/officeDocument/2006/relationships/font" Target="fonts/c829ed38-fe2c-4ea7-9d8c-496c6be4998d.fntdata" /><ns0:Relationship Id="rIdFont19" Type="http://schemas.openxmlformats.org/officeDocument/2006/relationships/font" Target="fonts/8e4f369e-a388-4bf7-ad2e-dad98667517e.fntdata" /><ns0:Relationship Id="rIdFont20" Type="http://schemas.openxmlformats.org/officeDocument/2006/relationships/font" Target="fonts/61cf1221-13d9-4800-8016-891b54b1dec5.fntdata" /><ns0:Relationship Id="rIdFont21" Type="http://schemas.openxmlformats.org/officeDocument/2006/relationships/font" Target="fonts/50038f59-98d2-45f8-a89a-c31b46fa6158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2147887"/>
            <a:ext cx="762000" cy="381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5581" y="2490787"/>
            <a:ext cx="6700837" cy="971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FFFFFF"/>
                </a:solidFill>
                <a:latin typeface="Univers"/>
              </a:rPr>
              <a:t>INNOVAIA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58145" y="3614737"/>
            <a:ext cx="5675709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FF6B35"/>
                </a:solidFill>
                <a:latin typeface="Univers"/>
              </a:rPr>
              <a:t>Brand Identity &amp; Design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32734" y="4481512"/>
            <a:ext cx="272653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E2E8F0"/>
                </a:solidFill>
                <a:latin typeface="Univers"/>
              </a:rPr>
              <a:t>Manual Oficial de Marca • Navy × Orange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12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57200"/>
            <a:ext cx="4876800" cy="5943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991867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496692"/>
            <a:ext cx="228600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108894"/>
            <a:ext cx="6096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6B35"/>
                </a:solidFill>
                <a:latin typeface="Univers"/>
              </a:rPr>
              <a:t>Nuestra Esencia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489894"/>
            <a:ext cx="5220652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14213D"/>
                </a:solidFill>
                <a:latin typeface="Univers"/>
              </a:rPr>
              <a:t>Tecnología que impulsa el futuro.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968055"/>
            <a:ext cx="4929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72E"/>
                </a:solidFill>
                <a:latin typeface="Univers"/>
              </a:rPr>
              <a:t>Soluciones avanzadas y escalables.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472880"/>
            <a:ext cx="420290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1E272E"/>
                </a:solidFill>
                <a:latin typeface="Univers"/>
              </a:rPr>
              <a:t>Diseño minimalista y funcional.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0300" y="1933575"/>
            <a:ext cx="2571750" cy="4314825"/>
          </a:xfrm>
          <a:prstGeom prst="roundRect">
            <a:avLst>
              <a:gd name="adj" fmla="val 5925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10650" y="1933575"/>
            <a:ext cx="2571750" cy="4314825"/>
          </a:xfrm>
          <a:prstGeom prst="roundRect">
            <a:avLst>
              <a:gd name="adj" fmla="val 5925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933575"/>
            <a:ext cx="2571750" cy="33147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248275"/>
            <a:ext cx="2571750" cy="1000125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09950" y="1933575"/>
            <a:ext cx="2571750" cy="3314700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09950" y="5248275"/>
            <a:ext cx="2571750" cy="1000125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0300" y="1933575"/>
            <a:ext cx="2571750" cy="3314700"/>
          </a:xfrm>
          <a:prstGeom prst="rect">
            <a:avLst/>
          </a:prstGeom>
          <a:solidFill>
            <a:srgbClr val="0508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0300" y="5248275"/>
            <a:ext cx="2571750" cy="1000125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10650" y="1933575"/>
            <a:ext cx="2571750" cy="3314700"/>
          </a:xfrm>
          <a:prstGeom prst="rect">
            <a:avLst/>
          </a:prstGeom>
          <a:solidFill>
            <a:srgbClr val="1D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10650" y="5248275"/>
            <a:ext cx="2571750" cy="1000125"/>
          </a:xfrm>
          <a:prstGeom prst="rect">
            <a:avLst/>
          </a:prstGeom>
          <a:solidFill>
            <a:srgbClr val="F5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4213D"/>
                </a:solidFill>
                <a:latin typeface="Univers"/>
              </a:rPr>
              <a:t>Paleta de Color Principal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247775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25272C"/>
                </a:solidFill>
                <a:latin typeface="Univers"/>
              </a:rPr>
              <a:t>Dualidad corporativa Navy × Orange para fondos profundos y acentos de alto impacto.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801" y="5476875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4213D"/>
                </a:solidFill>
                <a:latin typeface="Univers"/>
              </a:rPr>
              <a:t>Innovaia Navy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881" y="5819775"/>
            <a:ext cx="2643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66666"/>
                </a:solidFill>
                <a:latin typeface="monospace"/>
              </a:rPr>
              <a:t>#14213D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8151" y="5476875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4213D"/>
                </a:solidFill>
                <a:latin typeface="Univers"/>
              </a:rPr>
              <a:t>Innovaia Orange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74231" y="5819775"/>
            <a:ext cx="2643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66666"/>
                </a:solidFill>
                <a:latin typeface="monospace"/>
              </a:rPr>
              <a:t>#FF6B35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08501" y="5476875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4213D"/>
                </a:solidFill>
                <a:latin typeface="Univers"/>
              </a:rPr>
              <a:t>Obsidian Void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4581" y="5819775"/>
            <a:ext cx="2643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66666"/>
                </a:solidFill>
                <a:latin typeface="monospace"/>
              </a:rPr>
              <a:t>#050811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8851" y="5476875"/>
            <a:ext cx="277534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14213D"/>
                </a:solidFill>
                <a:latin typeface="Univers"/>
              </a:rPr>
              <a:t>Navy Elevated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4931" y="5819775"/>
            <a:ext cx="2643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66666"/>
                </a:solidFill>
                <a:latin typeface="monospace"/>
              </a:rPr>
              <a:t>#1D2E52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33575"/>
            <a:ext cx="2571750" cy="4314825"/>
          </a:xfrm>
          <a:prstGeom prst="roundRect">
            <a:avLst>
              <a:gd name="adj" fmla="val 5925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1933575"/>
            <a:ext cx="2571750" cy="4314825"/>
          </a:xfrm>
          <a:prstGeom prst="roundRect">
            <a:avLst>
              <a:gd name="adj" fmla="val 5925"/>
            </a:avLst>
          </a:prstGeom>
          <a:solidFill>
            <a:srgbClr val="FF88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933575"/>
            <a:ext cx="2571750" cy="4314825"/>
          </a:xfrm>
          <a:prstGeom prst="roundRect">
            <a:avLst>
              <a:gd name="adj" fmla="val 5925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1933575"/>
            <a:ext cx="2571750" cy="4314825"/>
          </a:xfrm>
          <a:prstGeom prst="roundRect">
            <a:avLst>
              <a:gd name="adj" fmla="val 5925"/>
            </a:avLst>
          </a:prstGeom>
          <a:solidFill>
            <a:srgbClr val="273C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4213D"/>
                </a:solidFill>
                <a:latin typeface="Univers"/>
              </a:rPr>
              <a:t>Colores de Acento y Superficie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247775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25272C"/>
                </a:solidFill>
                <a:latin typeface="Univers"/>
              </a:rPr>
              <a:t>Variaciones tonales para botones CTA, estados hover y contenedores elevados.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72100"/>
            <a:ext cx="25753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Univers"/>
              </a:rPr>
              <a:t>Innovaia Orange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43575"/>
            <a:ext cx="2452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monospace"/>
              </a:rPr>
              <a:t>#FF6B35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4750" y="5372100"/>
            <a:ext cx="25753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4213D"/>
                </a:solidFill>
                <a:latin typeface="Univers"/>
              </a:rPr>
              <a:t>Solar Orange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4750" y="5743575"/>
            <a:ext cx="2452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4213D"/>
                </a:solidFill>
                <a:latin typeface="monospace"/>
              </a:rPr>
              <a:t>#FF885B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5372100"/>
            <a:ext cx="25753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Univers"/>
              </a:rPr>
              <a:t>Innovaia Navy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5743575"/>
            <a:ext cx="2452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monospace"/>
              </a:rPr>
              <a:t>#14213D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15450" y="5372100"/>
            <a:ext cx="25753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FFFFF"/>
                </a:solidFill>
                <a:latin typeface="Univers"/>
              </a:rPr>
              <a:t>Steel Rim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15450" y="5743575"/>
            <a:ext cx="2452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FFFFFF"/>
                </a:solidFill>
                <a:latin typeface="monospace"/>
              </a:rPr>
              <a:t>#273C69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38800" y="2057400"/>
            <a:ext cx="5943600" cy="2743200"/>
          </a:xfrm>
          <a:prstGeom prst="roundRect">
            <a:avLst>
              <a:gd name="adj" fmla="val 8333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1862137"/>
            <a:ext cx="6286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6B35"/>
                </a:solidFill>
                <a:latin typeface="Univers"/>
              </a:rPr>
              <a:t>TIPOGRAFÍA PRIMARIA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214562"/>
            <a:ext cx="6600825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b="1" sz="5400" i="0" u="none">
                <a:solidFill>
                  <a:srgbClr val="14213D"/>
                </a:solidFill>
                <a:latin typeface="Univers"/>
              </a:rPr>
              <a:t>Univers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128962"/>
            <a:ext cx="39052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25272C"/>
                </a:solidFill>
                <a:latin typeface="Univers"/>
              </a:rPr>
              <a:t>Precisión neo-grotesca suiza (Adrian Frutiger). Claridad arquitectónica para titulares e interfaces.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78240" y="2514600"/>
            <a:ext cx="3464718" cy="182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b="1" sz="18000" i="0" u="none">
                <a:solidFill>
                  <a:srgbClr val="FF6B35"/>
                </a:solidFill>
                <a:latin typeface="Univers"/>
              </a:rPr>
              <a:t>Aa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414837"/>
            <a:ext cx="100012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4213D"/>
                </a:solidFill>
                <a:latin typeface="Univers"/>
              </a:rPr>
              <a:t>65 Bold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795837"/>
            <a:ext cx="1000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66666"/>
                </a:solidFill>
                <a:latin typeface="Univers"/>
              </a:rPr>
              <a:t>Titulares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8775" y="4414837"/>
            <a:ext cx="145256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4213D"/>
                </a:solidFill>
                <a:latin typeface="Univers"/>
              </a:rPr>
              <a:t>55 Roman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8775" y="4795837"/>
            <a:ext cx="1452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66666"/>
                </a:solidFill>
                <a:latin typeface="Univers"/>
              </a:rPr>
              <a:t>Subtítulos &amp;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52575"/>
            <a:ext cx="5257800" cy="4695825"/>
          </a:xfrm>
          <a:prstGeom prst="roundRect">
            <a:avLst>
              <a:gd name="adj" fmla="val 48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1552575"/>
            <a:ext cx="5257800" cy="4695825"/>
          </a:xfrm>
          <a:prstGeom prst="roundRect">
            <a:avLst>
              <a:gd name="adj" fmla="val 486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4213D"/>
                </a:solidFill>
                <a:latin typeface="Univers"/>
              </a:rPr>
              <a:t>Sistema Tipográfico &amp; Fallback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6800" y="2776537"/>
            <a:ext cx="5429250" cy="952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b="0" sz="7500" i="0" u="none">
                <a:solidFill>
                  <a:srgbClr val="14213D"/>
                </a:solidFill>
                <a:latin typeface="Univers"/>
              </a:rPr>
              <a:t>Aa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957637"/>
            <a:ext cx="570071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4213D"/>
                </a:solidFill>
                <a:latin typeface="Univers"/>
              </a:rPr>
              <a:t>Univers Next / LT Std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4567237"/>
            <a:ext cx="4438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66666"/>
                </a:solidFill>
                <a:latin typeface="Univers"/>
              </a:rPr>
              <a:t>Sistema modular en pesos 45 Light, 55 Roman, 65 Bold y 75 Black para identidad corporativa.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81800" y="2795587"/>
            <a:ext cx="5410200" cy="952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500"/>
              </a:lnSpc>
            </a:pPr>
            <a:r>
              <a:rPr b="0" sz="7500" i="0" u="none">
                <a:solidFill>
                  <a:srgbClr val="FF6B35"/>
                </a:solidFill>
                <a:latin typeface="Plus Jakarta Sans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1800" y="3976687"/>
            <a:ext cx="54102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14213D"/>
                </a:solidFill>
                <a:latin typeface="Plus Jakarta Sans"/>
              </a:rPr>
              <a:t>Plus Jakarta Sans / Inter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4548187"/>
            <a:ext cx="44386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66666"/>
                </a:solidFill>
                <a:latin typeface="Plus Jakarta Sans"/>
              </a:rPr>
              <a:t>Fallback web moderno en Google Fonts con máxima legibilidad para interfaces digitales.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76375"/>
            <a:ext cx="10972800" cy="42672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933575"/>
            <a:ext cx="10058400" cy="3352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6067425"/>
            <a:ext cx="15240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4912" y="6067425"/>
            <a:ext cx="1524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6450" y="6067425"/>
            <a:ext cx="15240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14213D"/>
                </a:solidFill>
                <a:latin typeface="Univers"/>
              </a:rPr>
              <a:t>Logotipo Principal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48375"/>
            <a:ext cx="2619375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5272C"/>
                </a:solidFill>
                <a:latin typeface="Univers"/>
              </a:rPr>
              <a:t>Proporción asimétrica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14912" y="6048375"/>
            <a:ext cx="2964656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5272C"/>
                </a:solidFill>
                <a:latin typeface="Univers"/>
              </a:rPr>
              <a:t>Contraste Navy × Orange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6450" y="6048375"/>
            <a:ext cx="2357437" cy="200025"/>
          </a:xfrm>
          <a:prstGeom prst="rect">
            <a:avLst/>
          </a:prstGeom>
          <a:noFill/>
        </p:spPr>
        <p:txBody>
          <a:bodyPr wrap="none" lIns="22860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25272C"/>
                </a:solidFill>
                <a:latin typeface="Univers"/>
              </a:rPr>
              <a:t>Nodos de conexión 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00337"/>
            <a:ext cx="3454449" cy="2400300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2700337"/>
            <a:ext cx="3454449" cy="2400300"/>
          </a:xfrm>
          <a:prstGeom prst="roundRect">
            <a:avLst>
              <a:gd name="adj" fmla="val 793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681287"/>
            <a:ext cx="3454449" cy="2438400"/>
          </a:xfrm>
          <a:prstGeom prst="roundRect">
            <a:avLst>
              <a:gd name="adj" fmla="val 78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50" y="3157537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3157537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0449" y="3138487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7687" y="3328987"/>
            <a:ext cx="2381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2650" y="3328987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1899" y="3309937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381000" y="1738312"/>
            <a:ext cx="12954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14213D"/>
                </a:solidFill>
                <a:latin typeface="Univers"/>
              </a:rPr>
              <a:t>Pilares de la Marca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892" y="3995737"/>
            <a:ext cx="373386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F6B35"/>
                </a:solidFill>
                <a:latin typeface="Univers"/>
              </a:rPr>
              <a:t>Innovador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793" y="4443412"/>
            <a:ext cx="3556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66666"/>
                </a:solidFill>
                <a:latin typeface="Univers"/>
              </a:rPr>
              <a:t>Tecnología de vanguardia.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9141" y="3995737"/>
            <a:ext cx="373386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4213D"/>
                </a:solidFill>
                <a:latin typeface="Univers"/>
              </a:rPr>
              <a:t>Profesional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43" y="4443412"/>
            <a:ext cx="3556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66666"/>
                </a:solidFill>
                <a:latin typeface="Univers"/>
              </a:rPr>
              <a:t>Estándares de calidad global.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8391" y="3976687"/>
            <a:ext cx="373386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14213D"/>
                </a:solidFill>
                <a:latin typeface="Univers"/>
              </a:rPr>
              <a:t>Elegante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7293" y="4462462"/>
            <a:ext cx="3556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66666"/>
                </a:solidFill>
                <a:latin typeface="Univers"/>
              </a:rPr>
              <a:t>Diseño limpio y sofisticado.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2328862"/>
            <a:ext cx="685800" cy="60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3148" y="3243262"/>
            <a:ext cx="5625703" cy="781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Univers"/>
              </a:rPr>
              <a:t>INNOVAIA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44453" y="4252912"/>
            <a:ext cx="570309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FF6B35"/>
                </a:solidFill>
                <a:latin typeface="Univers"/>
              </a:rPr>
              <a:t>Definiendo el futuro de la identidad visual • #14213D × #FF6B35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